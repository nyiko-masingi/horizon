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strong: name the company, name the problem in one sentence, and tell them what they’re about to see. Keep this to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 in one breath — this is a map, not content. Point out that you’ll end with a live demo including a deliberate failure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the problem in something relatable: ask if anyone has tried to reconcile a shared spreadsheet. Land on "no safety rails" as the sharpest pain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problem to solution using the same three beats so the audience feels the mapping. Emphasise "the balance is never a field you can type into" — it’s the single most important design decision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diagram straight from the spec — say so. Walk it left to right once, then say "let’s go see it live" and switch to the running app if doing a live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live, actually run a search here. Call out that pagination and search both hit the SQL view, not an in-memory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balance is derived, never typed. If live, show the close button being disabled/blocked logic conceptually before Slide 13’s full failure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audit trail specifically — capture date vs transaction date is a subtle but important distinction worth spelling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two or three of these aloud verbatim — they map directly to rubric business-rule requirements and to the automated tests in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and confident: "Controller’s thin, service owns the rules, EF Core owns persistence, SQL Server owns the source of truth." One sentence per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taste, not a tour — 30 seconds. The goal is just "this doesn’t look like a scaffold."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 number: 66 of 66. Mention the one real defect you found and fixed as proof the testing was genuine, not decorative.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live-demo script — follow the left column exactly, then the right column. The failure case is required by the rubric, so don’t skip it even under time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these gaps confidently — naming scope boundaries clearly reads as engineering maturity, not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momentum, not apology. Pick your favourite roadmap item and say one sentence about why it’s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invite questions, and stop talking. Let silence do its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6583680" cy="6583680"/>
          </a:xfrm>
          <a:prstGeom prst="diamond">
            <a:avLst/>
          </a:prstGeom>
          <a:ln w="12700">
            <a:solidFill>
              <a:srgbClr val="D4A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937760" cy="4937760"/>
          </a:xfrm>
          <a:prstGeom prst="diamond">
            <a:avLst/>
          </a:prstGeom>
          <a:ln w="1270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51560"/>
            <a:ext cx="457200" cy="457200"/>
          </a:xfrm>
          <a:prstGeom prst="diamond">
            <a:avLst/>
          </a:prstGeom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DEVCAMP  ·  FINAL CAPSTONE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Gilded Stake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house for the discerning wager — built to manage clients, betting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every transaction between them with quiet precision.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4206240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108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Nyiko Gift Masingi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(.NET 10)  ·  Entity Framework Core  ·  SQL Server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WE’RE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205740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44144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 hoc tracking breaks down for a wagering house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20391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76008" y="205740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76008" y="244144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Gilded Stake actually does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93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61188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99592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flow: clients → accounts → transactions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42900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048" y="35935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76008" y="361188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76008" y="399592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integrity, and the rules that hold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480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516636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555040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 and results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8728" y="4983480"/>
            <a:ext cx="5364328" cy="1234440"/>
          </a:xfrm>
          <a:prstGeom prst="roundRect">
            <a:avLst>
              <a:gd name="adj" fmla="val 6667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3048" y="51480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76008" y="5166360"/>
            <a:ext cx="399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76008" y="555040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today, and the roadmap ahead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Spreadsheets Weren’t Built for This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wagering house needs to track clients, the accounts they hold, and every stake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settlement between them — accurately, and provably.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4298" cy="3291840"/>
          </a:xfrm>
          <a:prstGeom prst="roundRect">
            <a:avLst>
              <a:gd name="adj" fmla="val 2500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8072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deck/icons/Database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9352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66160"/>
            <a:ext cx="28690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4297680"/>
            <a:ext cx="28690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account and transaction data scattered across spreadsheets and side notes — nobody trusts the same number twice.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8698" y="2514600"/>
            <a:ext cx="3454298" cy="3291840"/>
          </a:xfrm>
          <a:prstGeom prst="roundRect">
            <a:avLst>
              <a:gd name="adj" fmla="val 2500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1306" y="28072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tmp/deck/icons/WarningCircle-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322" y="29352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1306" y="3566160"/>
            <a:ext cx="28690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Balances drift silently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1306" y="4297680"/>
            <a:ext cx="28690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missed edit and an account is out of balance, with no record of what happened or when.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8757" y="2514600"/>
            <a:ext cx="3454298" cy="3291840"/>
          </a:xfrm>
          <a:prstGeom prst="roundRect">
            <a:avLst>
              <a:gd name="adj" fmla="val 2500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81365" y="28072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tmp/deck/icons/ShieldCheck-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381" y="29352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1365" y="3566160"/>
            <a:ext cx="286908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safety rails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81365" y="4297680"/>
            <a:ext cx="286908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a duplicate client, a closed account taking new stakes, or a transaction backdated after the fact.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Gilded Stake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9961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well-governed system of record for clients, betting accounts and transactions —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the discipline of a private bank and the polish of a concierge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deck/icons/Sta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6883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87168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2862072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client, account and transaction lives in one governed SQL Server database — read through views and stored procedures.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2560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/tmp/deck/icons/Scale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744" y="26883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10248" y="2487168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you can trust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010248" y="2862072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outstanding balance is always derived from posted transactions. It is never a field a user can type into.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361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tmp/deck/icons/Shield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489704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288536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automatically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466344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IDs, closed-account postings, future-dated stakes — the service layer blocks every one, every time.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78728" y="4361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/tmp/deck/icons/Spark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744" y="4489704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10248" y="4288536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feel premium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7010248" y="466344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private-banking-hall aesthetic, not a default CRUD scaffold — because the tool your team uses daily should feel considered.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Flow, Start to Finish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exists to move you one step closer to the ledger — in this exact order.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430704" cy="2468880"/>
          </a:xfrm>
          <a:prstGeom prst="roundRect">
            <a:avLst>
              <a:gd name="adj" fmla="val 3762"/>
            </a:avLst>
          </a:prstGeom>
          <a:solidFill>
            <a:srgbClr val="1B1F27"/>
          </a:solidFill>
          <a:ln w="15875">
            <a:solidFill>
              <a:srgbClr val="D4AF6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35976" y="2752344"/>
            <a:ext cx="256032" cy="256032"/>
          </a:xfrm>
          <a:prstGeom prst="diamond">
            <a:avLst/>
          </a:prstGeom>
          <a:solidFill>
            <a:srgbClr val="D4AF6A"/>
          </a:solidFill>
          <a:ln/>
        </p:spPr>
      </p:sp>
      <p:sp>
        <p:nvSpPr>
          <p:cNvPr id="7" name="Text 5"/>
          <p:cNvSpPr/>
          <p:nvPr/>
        </p:nvSpPr>
        <p:spPr>
          <a:xfrm>
            <a:off x="1635976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43952" y="3246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tmp/deck/icons/UsersThree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256" y="339242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114800"/>
            <a:ext cx="2156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List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85800" y="4572000"/>
            <a:ext cx="215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register clients</a:t>
            </a:r>
            <a:endParaRPr lang="en-US" sz="1100" dirty="0"/>
          </a:p>
        </p:txBody>
      </p:sp>
      <p:pic>
        <p:nvPicPr>
          <p:cNvPr id="12" name="Image 1" descr="/tmp/deck/icons/ArrowRight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928" y="3986784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36544" y="2880360"/>
            <a:ext cx="2430704" cy="2468880"/>
          </a:xfrm>
          <a:prstGeom prst="roundRect">
            <a:avLst>
              <a:gd name="adj" fmla="val 3762"/>
            </a:avLst>
          </a:prstGeom>
          <a:solidFill>
            <a:srgbClr val="15181E"/>
          </a:solidFill>
          <a:ln w="15875">
            <a:solidFill>
              <a:srgbClr val="D4AF6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23880" y="2752344"/>
            <a:ext cx="256032" cy="256032"/>
          </a:xfrm>
          <a:prstGeom prst="diamond">
            <a:avLst/>
          </a:prstGeom>
          <a:solidFill>
            <a:srgbClr val="D4AF6A"/>
          </a:solidFill>
          <a:ln/>
        </p:spPr>
      </p:sp>
      <p:sp>
        <p:nvSpPr>
          <p:cNvPr id="15" name="Text 11"/>
          <p:cNvSpPr/>
          <p:nvPr/>
        </p:nvSpPr>
        <p:spPr>
          <a:xfrm>
            <a:off x="4523880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31856" y="3246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/tmp/deck/icons/UserPlus-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160" y="33924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73704" y="4114800"/>
            <a:ext cx="2156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Details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3573704" y="4572000"/>
            <a:ext cx="215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client · view accounts</a:t>
            </a:r>
            <a:endParaRPr lang="en-US" sz="1100" dirty="0"/>
          </a:p>
        </p:txBody>
      </p:sp>
      <p:pic>
        <p:nvPicPr>
          <p:cNvPr id="20" name="Image 3" descr="/tmp/deck/icons/ArrowRight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986784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24448" y="2880360"/>
            <a:ext cx="2430704" cy="2468880"/>
          </a:xfrm>
          <a:prstGeom prst="roundRect">
            <a:avLst>
              <a:gd name="adj" fmla="val 3762"/>
            </a:avLst>
          </a:prstGeom>
          <a:solidFill>
            <a:srgbClr val="1B1F27"/>
          </a:solidFill>
          <a:ln w="15875">
            <a:solidFill>
              <a:srgbClr val="D4AF6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11784" y="2752344"/>
            <a:ext cx="256032" cy="256032"/>
          </a:xfrm>
          <a:prstGeom prst="diamond">
            <a:avLst/>
          </a:prstGeom>
          <a:solidFill>
            <a:srgbClr val="D4AF6A"/>
          </a:solidFill>
          <a:ln/>
        </p:spPr>
      </p:sp>
      <p:sp>
        <p:nvSpPr>
          <p:cNvPr id="23" name="Text 17"/>
          <p:cNvSpPr/>
          <p:nvPr/>
        </p:nvSpPr>
        <p:spPr>
          <a:xfrm>
            <a:off x="7411784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19760" y="3246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/tmp/deck/icons/Wallet-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64" y="339242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61608" y="4114800"/>
            <a:ext cx="2156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Details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6461608" y="4572000"/>
            <a:ext cx="215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close / reopen</a:t>
            </a:r>
            <a:endParaRPr lang="en-US" sz="1100" dirty="0"/>
          </a:p>
        </p:txBody>
      </p:sp>
      <p:pic>
        <p:nvPicPr>
          <p:cNvPr id="28" name="Image 5" descr="/tmp/deck/icons/ArrowRight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735" y="3986784"/>
            <a:ext cx="256032" cy="2560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212351" y="2880360"/>
            <a:ext cx="2430704" cy="2468880"/>
          </a:xfrm>
          <a:prstGeom prst="roundRect">
            <a:avLst>
              <a:gd name="adj" fmla="val 3762"/>
            </a:avLst>
          </a:prstGeom>
          <a:solidFill>
            <a:srgbClr val="15181E"/>
          </a:solidFill>
          <a:ln w="15875">
            <a:solidFill>
              <a:srgbClr val="D4AF6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0299687" y="2752344"/>
            <a:ext cx="256032" cy="256032"/>
          </a:xfrm>
          <a:prstGeom prst="diamond">
            <a:avLst/>
          </a:prstGeom>
          <a:solidFill>
            <a:srgbClr val="D4AF6A"/>
          </a:solidFill>
          <a:ln/>
        </p:spPr>
      </p:sp>
      <p:sp>
        <p:nvSpPr>
          <p:cNvPr id="31" name="Text 23"/>
          <p:cNvSpPr/>
          <p:nvPr/>
        </p:nvSpPr>
        <p:spPr>
          <a:xfrm>
            <a:off x="10299687" y="27523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0107663" y="3246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3" name="Image 6" descr="/tmp/deck/icons/Receipt-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967" y="339242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349511" y="4114800"/>
            <a:ext cx="2156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Details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9349511" y="4572000"/>
            <a:ext cx="2156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edit the ledger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—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Any Client in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deck/icons/MagnifyingGlas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911096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that actually helps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2240280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ID number, surname, or account number — partial, case-insensitive.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44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deck/icons/ListCheck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63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990088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Paginated, always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" y="3319272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clients per page, so the list never becomes unusable at scale.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239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tmp/deck/icons/UserPlu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153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406908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create &amp; delete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15568" y="4398264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 need a unique ID; deletion is blocked while any account is open.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1828800"/>
            <a:ext cx="5516575" cy="4343400"/>
          </a:xfrm>
          <a:prstGeom prst="roundRect">
            <a:avLst>
              <a:gd name="adj" fmla="val 2105"/>
            </a:avLst>
          </a:prstGeom>
          <a:solidFill>
            <a:srgbClr val="0D0F13"/>
          </a:solidFill>
          <a:ln w="12700">
            <a:solidFill>
              <a:srgbClr val="2A2E3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82512" y="2048256"/>
            <a:ext cx="109728" cy="10972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18" name="Shape 13"/>
          <p:cNvSpPr/>
          <p:nvPr/>
        </p:nvSpPr>
        <p:spPr>
          <a:xfrm>
            <a:off x="6601968" y="2048256"/>
            <a:ext cx="109728" cy="109728"/>
          </a:xfrm>
          <a:prstGeom prst="ellipse">
            <a:avLst/>
          </a:prstGeom>
          <a:solidFill>
            <a:srgbClr val="D4AF6A"/>
          </a:solidFill>
          <a:ln/>
        </p:spPr>
      </p:sp>
      <p:sp>
        <p:nvSpPr>
          <p:cNvPr id="19" name="Shape 14"/>
          <p:cNvSpPr/>
          <p:nvPr/>
        </p:nvSpPr>
        <p:spPr>
          <a:xfrm>
            <a:off x="6821424" y="2048256"/>
            <a:ext cx="109728" cy="10972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0" name="Shape 15"/>
          <p:cNvSpPr/>
          <p:nvPr/>
        </p:nvSpPr>
        <p:spPr>
          <a:xfrm>
            <a:off x="6126480" y="2331720"/>
            <a:ext cx="5516575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2606040"/>
            <a:ext cx="4967935" cy="384048"/>
          </a:xfrm>
          <a:prstGeom prst="roundRect">
            <a:avLst>
              <a:gd name="adj" fmla="val 14286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pic>
        <p:nvPicPr>
          <p:cNvPr id="22" name="Image 3" descr="/tmp/deck/icons/MagnifyingGlass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70662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3136" y="2633472"/>
            <a:ext cx="44192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ID, surname or account…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0" y="3200400"/>
            <a:ext cx="4967935" cy="566928"/>
          </a:xfrm>
          <a:prstGeom prst="roundRect">
            <a:avLst>
              <a:gd name="adj" fmla="val 9677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583680" y="3200400"/>
            <a:ext cx="2483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Alessandra Winthrop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984126" y="3200400"/>
            <a:ext cx="1241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accounts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884768" y="3200400"/>
            <a:ext cx="228525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R27,400.00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0" y="3877056"/>
            <a:ext cx="4967935" cy="566928"/>
          </a:xfrm>
          <a:prstGeom prst="roundRect">
            <a:avLst>
              <a:gd name="adj" fmla="val 9677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583680" y="3877056"/>
            <a:ext cx="2483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Voss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984126" y="3877056"/>
            <a:ext cx="1241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8884768" y="3877056"/>
            <a:ext cx="228525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R2,550.00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6400800" y="4553712"/>
            <a:ext cx="4967935" cy="566928"/>
          </a:xfrm>
          <a:prstGeom prst="roundRect">
            <a:avLst>
              <a:gd name="adj" fmla="val 9677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83680" y="4553712"/>
            <a:ext cx="2483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Naledi Khumalo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8984126" y="4553712"/>
            <a:ext cx="12419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account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8884768" y="4553712"/>
            <a:ext cx="228525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R350.00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126480" y="6263640"/>
            <a:ext cx="5516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interface reference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— ACCOUNTS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Balances You Can Actually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deck/icons/Wallet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911096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accounts per client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2240280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as many betting accounts as a client needs — each tracked independently.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44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deck/icons/LockKey-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63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990088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only at R0.00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" y="3319272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refuses to close an account carrying a balance, and says exactly why.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239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tmp/deck/icons/ArrowsClockwise-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153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406908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anytime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15568" y="4398264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account can be reopened the moment it needs to trade again.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1828800"/>
            <a:ext cx="5516575" cy="4343400"/>
          </a:xfrm>
          <a:prstGeom prst="roundRect">
            <a:avLst>
              <a:gd name="adj" fmla="val 2105"/>
            </a:avLst>
          </a:prstGeom>
          <a:solidFill>
            <a:srgbClr val="0D0F13"/>
          </a:solidFill>
          <a:ln w="12700">
            <a:solidFill>
              <a:srgbClr val="2A2E3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82512" y="2048256"/>
            <a:ext cx="109728" cy="10972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18" name="Shape 13"/>
          <p:cNvSpPr/>
          <p:nvPr/>
        </p:nvSpPr>
        <p:spPr>
          <a:xfrm>
            <a:off x="6601968" y="2048256"/>
            <a:ext cx="109728" cy="109728"/>
          </a:xfrm>
          <a:prstGeom prst="ellipse">
            <a:avLst/>
          </a:prstGeom>
          <a:solidFill>
            <a:srgbClr val="D4AF6A"/>
          </a:solidFill>
          <a:ln/>
        </p:spPr>
      </p:sp>
      <p:sp>
        <p:nvSpPr>
          <p:cNvPr id="19" name="Shape 14"/>
          <p:cNvSpPr/>
          <p:nvPr/>
        </p:nvSpPr>
        <p:spPr>
          <a:xfrm>
            <a:off x="6821424" y="2048256"/>
            <a:ext cx="109728" cy="10972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0" name="Shape 15"/>
          <p:cNvSpPr/>
          <p:nvPr/>
        </p:nvSpPr>
        <p:spPr>
          <a:xfrm>
            <a:off x="6126480" y="2331720"/>
            <a:ext cx="5516575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0" y="2606040"/>
            <a:ext cx="4967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BALANCE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0" y="2862072"/>
            <a:ext cx="49679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R27,400.00</a:t>
            </a:r>
            <a:endParaRPr lang="en-US" sz="4000" dirty="0"/>
          </a:p>
        </p:txBody>
      </p:sp>
      <p:sp>
        <p:nvSpPr>
          <p:cNvPr id="23" name="Shape 18"/>
          <p:cNvSpPr/>
          <p:nvPr/>
        </p:nvSpPr>
        <p:spPr>
          <a:xfrm>
            <a:off x="8381848" y="3749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34A34"/>
          </a:solidFill>
          <a:ln/>
        </p:spPr>
      </p:sp>
      <p:sp>
        <p:nvSpPr>
          <p:cNvPr id="24" name="Text 19"/>
          <p:cNvSpPr/>
          <p:nvPr/>
        </p:nvSpPr>
        <p:spPr>
          <a:xfrm>
            <a:off x="8381848" y="37490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E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0" y="4389120"/>
            <a:ext cx="4967935" cy="457200"/>
          </a:xfrm>
          <a:prstGeom prst="roundRect">
            <a:avLst>
              <a:gd name="adj" fmla="val 12000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565392" y="4389120"/>
            <a:ext cx="298076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Wagering Account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133164" y="4389120"/>
            <a:ext cx="21362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GS-100001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0" y="4956048"/>
            <a:ext cx="4967935" cy="457200"/>
          </a:xfrm>
          <a:prstGeom prst="roundRect">
            <a:avLst>
              <a:gd name="adj" fmla="val 12000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565392" y="4956048"/>
            <a:ext cx="298076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Roller Suite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9133164" y="4956048"/>
            <a:ext cx="21362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GS-100002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126480" y="6263640"/>
            <a:ext cx="5516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interface reference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— TRANSACTIONS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Stake, Every Settlement, Recorded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tmp/deck/icons/CalendarBlan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911096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date entry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2240280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date-picker UI that will not let you select tomorrow.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44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/tmp/deck/icons/ChartLineU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363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990088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recalculates instantly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" y="3319272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 edit a transaction and the account balance updates atomically.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239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/tmp/deck/icons/ClipboardTex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1538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406908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that cannot lie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15568" y="4398264"/>
            <a:ext cx="44622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timestamp refreshes on every save and is never user-editable.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1828800"/>
            <a:ext cx="5516575" cy="4343400"/>
          </a:xfrm>
          <a:prstGeom prst="roundRect">
            <a:avLst>
              <a:gd name="adj" fmla="val 2105"/>
            </a:avLst>
          </a:prstGeom>
          <a:solidFill>
            <a:srgbClr val="0D0F13"/>
          </a:solidFill>
          <a:ln w="12700">
            <a:solidFill>
              <a:srgbClr val="2A2E3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82512" y="2048256"/>
            <a:ext cx="109728" cy="10972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18" name="Shape 13"/>
          <p:cNvSpPr/>
          <p:nvPr/>
        </p:nvSpPr>
        <p:spPr>
          <a:xfrm>
            <a:off x="6601968" y="2048256"/>
            <a:ext cx="109728" cy="109728"/>
          </a:xfrm>
          <a:prstGeom prst="ellipse">
            <a:avLst/>
          </a:prstGeom>
          <a:solidFill>
            <a:srgbClr val="D4AF6A"/>
          </a:solidFill>
          <a:ln/>
        </p:spPr>
      </p:sp>
      <p:sp>
        <p:nvSpPr>
          <p:cNvPr id="19" name="Shape 14"/>
          <p:cNvSpPr/>
          <p:nvPr/>
        </p:nvSpPr>
        <p:spPr>
          <a:xfrm>
            <a:off x="6821424" y="2048256"/>
            <a:ext cx="109728" cy="10972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0" name="Shape 15"/>
          <p:cNvSpPr/>
          <p:nvPr/>
        </p:nvSpPr>
        <p:spPr>
          <a:xfrm>
            <a:off x="6126480" y="2331720"/>
            <a:ext cx="5516575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2606040"/>
            <a:ext cx="4967935" cy="585216"/>
          </a:xfrm>
          <a:prstGeom prst="roundRect">
            <a:avLst>
              <a:gd name="adj" fmla="val 10938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47104" y="2743200"/>
            <a:ext cx="310896" cy="310896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3" name="Text 18"/>
          <p:cNvSpPr/>
          <p:nvPr/>
        </p:nvSpPr>
        <p:spPr>
          <a:xfrm>
            <a:off x="6547104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967728" y="2606040"/>
            <a:ext cx="24839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Winnings — Derby Cup Final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9133164" y="2606040"/>
            <a:ext cx="208653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R2,100.00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0" y="3319272"/>
            <a:ext cx="4967935" cy="585216"/>
          </a:xfrm>
          <a:prstGeom prst="roundRect">
            <a:avLst>
              <a:gd name="adj" fmla="val 10938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47104" y="3456432"/>
            <a:ext cx="310896" cy="310896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28" name="Text 23"/>
          <p:cNvSpPr/>
          <p:nvPr/>
        </p:nvSpPr>
        <p:spPr>
          <a:xfrm>
            <a:off x="6547104" y="3456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967728" y="3319272"/>
            <a:ext cx="24839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— Derby Cup Final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9133164" y="3319272"/>
            <a:ext cx="208653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15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R1,200.00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400800" y="4032504"/>
            <a:ext cx="4967935" cy="585216"/>
          </a:xfrm>
          <a:prstGeom prst="roundRect">
            <a:avLst>
              <a:gd name="adj" fmla="val 10938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47104" y="4169664"/>
            <a:ext cx="310896" cy="310896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33" name="Text 28"/>
          <p:cNvSpPr/>
          <p:nvPr/>
        </p:nvSpPr>
        <p:spPr>
          <a:xfrm>
            <a:off x="6547104" y="4169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967728" y="4032504"/>
            <a:ext cx="24839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deposit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9133164" y="4032504"/>
            <a:ext cx="2086533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R5,000.00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126480" y="6263640"/>
            <a:ext cx="55165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interface reference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System Won’t Let You Break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below lives once, in the service layer — never re-implemented per screen.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8826" y="25054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tmp/deck/icons/ShieldCheck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554" y="26151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is unique by ID number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95396" y="2286000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25582" y="25054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tmp/deck/icons/ShieldCheck-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310" y="261518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2556" y="3108960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number can never repeat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42152" y="2286000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72338" y="25054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/tmp/deck/icons/GitBranch-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65" y="26151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9312" y="3108960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exists only for a real client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088907" y="2286000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119093" y="25054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/tmp/deck/icons/Scales-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8821" y="261518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26067" y="3108960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is never hand-edited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178808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578826" y="43982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4" descr="/tmp/deck/icons/LockKey-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554" y="450799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" y="5001768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closes only at R0.00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395396" y="4178808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25582" y="43982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5" descr="/tmp/deck/icons/XCircle-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310" y="450799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32556" y="5001768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postings to a closed account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242152" y="4178808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272338" y="43982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6" descr="/tmp/deck/icons/CalendarBlank-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2065" y="4507992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79312" y="5001768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dated in the future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9088907" y="4178808"/>
            <a:ext cx="255414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119093" y="43982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35" name="Image 7" descr="/tmp/deck/icons/WarningCircle-charco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8821" y="4507992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226067" y="5001768"/>
            <a:ext cx="22798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amount can never be zero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Layered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786384"/>
          </a:xfrm>
          <a:prstGeom prst="roundRect">
            <a:avLst>
              <a:gd name="adj" fmla="val 930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122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deck/icons/Brow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219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391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40480" y="2039112"/>
            <a:ext cx="7619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templates — presentation only, no business logic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880360"/>
            <a:ext cx="1063721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78408" y="30266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tmp/deck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1363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953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069080" y="2953512"/>
            <a:ext cx="7162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actions: bind input, call services, return a view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05840" y="3794760"/>
            <a:ext cx="10180015" cy="786384"/>
          </a:xfrm>
          <a:prstGeom prst="roundRect">
            <a:avLst>
              <a:gd name="adj" fmla="val 930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207008" y="39410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tmp/deck/icons/Scal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40507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867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297680" y="3867912"/>
            <a:ext cx="6705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rule lives here — one place, fully testable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234440" y="4709160"/>
            <a:ext cx="9722815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DF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435608" y="48554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tmp/deck/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496519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03120" y="47823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10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26280" y="4782312"/>
            <a:ext cx="6248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Fluent-API mapping, migrations, optimistic concurrency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463040" y="5623560"/>
            <a:ext cx="9265615" cy="786384"/>
          </a:xfrm>
          <a:prstGeom prst="roundRect">
            <a:avLst>
              <a:gd name="adj" fmla="val 930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64208" y="576986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/tmp/deck/icons/Ban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36" y="587959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331720" y="56967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54880" y="5696712"/>
            <a:ext cx="5790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vw_UserAccountSummary view · sp_GetAccountStatement procedure · indexes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Luxury, Not Generic CRUD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and gold. Playfair Display headings, Inter body copy. Pill statuses, soft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elevation, a toast system that never interrupts. Built to feel like a private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hall — because the tool a team uses every day should feel considered.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D0F13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26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72768" y="36118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4526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96896" y="36118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D4AF6A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4526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21024" y="36118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3FAE76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4526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5152" y="36118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C1553F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4526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1783080"/>
            <a:ext cx="5150815" cy="4343400"/>
          </a:xfrm>
          <a:prstGeom prst="roundRect">
            <a:avLst>
              <a:gd name="adj" fmla="val 2526"/>
            </a:avLst>
          </a:prstGeom>
          <a:solidFill>
            <a:srgbClr val="0D0F13"/>
          </a:solidFill>
          <a:ln w="12700">
            <a:solidFill>
              <a:srgbClr val="D4AF6A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3600" y="2286000"/>
            <a:ext cx="768096" cy="768096"/>
          </a:xfrm>
          <a:prstGeom prst="diamond">
            <a:avLst/>
          </a:prstGeom>
          <a:ln w="19050">
            <a:solidFill>
              <a:srgbClr val="D4A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3600" y="228600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291840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93592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Wagering House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1808" y="42976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</p:spPr>
      </p:sp>
      <p:sp>
        <p:nvSpPr>
          <p:cNvPr id="21" name="Text 19"/>
          <p:cNvSpPr/>
          <p:nvPr/>
        </p:nvSpPr>
        <p:spPr>
          <a:xfrm>
            <a:off x="8061808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Client Ledger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6217920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brand reference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Not Just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testing back every business rule and every screen in this deck.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33574" cy="1920240"/>
          </a:xfrm>
          <a:prstGeom prst="roundRect">
            <a:avLst>
              <a:gd name="adj" fmla="val 476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42032"/>
            <a:ext cx="253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23141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794760"/>
            <a:ext cx="23141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against the service layer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2254" y="2377440"/>
            <a:ext cx="2533574" cy="1920240"/>
          </a:xfrm>
          <a:prstGeom prst="roundRect">
            <a:avLst>
              <a:gd name="adj" fmla="val 476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2254" y="2542032"/>
            <a:ext cx="253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11982" y="3429000"/>
            <a:ext cx="23141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exploratory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1982" y="3794760"/>
            <a:ext cx="23141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&amp; validation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5868" y="2377440"/>
            <a:ext cx="2533574" cy="1920240"/>
          </a:xfrm>
          <a:prstGeom prst="roundRect">
            <a:avLst>
              <a:gd name="adj" fmla="val 476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5868" y="2542032"/>
            <a:ext cx="253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65596" y="3429000"/>
            <a:ext cx="23141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&amp; resolved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5596" y="3794760"/>
            <a:ext cx="23141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with root cause + fix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09481" y="2377440"/>
            <a:ext cx="2533574" cy="1920240"/>
          </a:xfrm>
          <a:prstGeom prst="roundRect">
            <a:avLst>
              <a:gd name="adj" fmla="val 4762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9481" y="2542032"/>
            <a:ext cx="25335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9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19209" y="3429000"/>
            <a:ext cx="23141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traced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9209" y="3794760"/>
            <a:ext cx="23141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requirements matrix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D0F13"/>
          </a:solidFill>
          <a:ln/>
        </p:spPr>
      </p:sp>
      <p:pic>
        <p:nvPicPr>
          <p:cNvPr id="22" name="Image 0" descr="/tmp/deck/icons/CheckCircl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71600" y="4709160"/>
            <a:ext cx="99971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of 66 tests pass — full traceability matrix and defect log in the companion Testing Report.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Path — and a Failure, Recovered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18608" cy="4480560"/>
          </a:xfrm>
          <a:prstGeom prst="roundRect">
            <a:avLst>
              <a:gd name="adj" fmla="val 2041"/>
            </a:avLst>
          </a:prstGeom>
          <a:solidFill>
            <a:srgbClr val="1B1F27"/>
          </a:solidFill>
          <a:ln w="15875">
            <a:solidFill>
              <a:srgbClr val="3FAE76"/>
            </a:solidFill>
            <a:prstDash val="solid"/>
          </a:ln>
        </p:spPr>
      </p:sp>
      <p:pic>
        <p:nvPicPr>
          <p:cNvPr id="5" name="Image 0" descr="/tmp/deck/icons/CheckCircl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848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2048256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Path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1872" y="2642616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client (unique ID number)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319272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61872" y="3264408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betting account — balance starts at R0.00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941064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941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61872" y="3886200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Credit deposit — balance updates instantly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4562856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61872" y="4507992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Debit stake — balance decreases correctly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5184648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184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61872" y="5129784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transaction amount — watch the balance recalculate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5806440"/>
            <a:ext cx="292608" cy="292608"/>
          </a:xfrm>
          <a:prstGeom prst="ellipse">
            <a:avLst/>
          </a:prstGeom>
          <a:solidFill>
            <a:srgbClr val="3FAE76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806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61872" y="5751576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account to zero, then close it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24448" y="1828800"/>
            <a:ext cx="5318608" cy="4480560"/>
          </a:xfrm>
          <a:prstGeom prst="roundRect">
            <a:avLst>
              <a:gd name="adj" fmla="val 2041"/>
            </a:avLst>
          </a:prstGeom>
          <a:solidFill>
            <a:srgbClr val="1B1F27"/>
          </a:solidFill>
          <a:ln w="15875">
            <a:solidFill>
              <a:srgbClr val="C1553F"/>
            </a:solidFill>
            <a:prstDash val="solid"/>
          </a:ln>
        </p:spPr>
      </p:sp>
      <p:pic>
        <p:nvPicPr>
          <p:cNvPr id="26" name="Image 1" descr="/tmp/deck/icons/WarningCircl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2084832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37680" y="2048256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Case &amp; Recovery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6598768" y="2697480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29" name="Text 25"/>
          <p:cNvSpPr/>
          <p:nvPr/>
        </p:nvSpPr>
        <p:spPr>
          <a:xfrm>
            <a:off x="6598768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037680" y="2642616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close an account that still holds a balance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598768" y="3319272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32" name="Text 28"/>
          <p:cNvSpPr/>
          <p:nvPr/>
        </p:nvSpPr>
        <p:spPr>
          <a:xfrm>
            <a:off x="6598768" y="3319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037680" y="3264408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it and states the exact outstanding amount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598768" y="3941064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35" name="Text 31"/>
          <p:cNvSpPr/>
          <p:nvPr/>
        </p:nvSpPr>
        <p:spPr>
          <a:xfrm>
            <a:off x="6598768" y="3941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037680" y="3886200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balancing transaction to bring it to R0.00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598768" y="4562856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38" name="Text 34"/>
          <p:cNvSpPr/>
          <p:nvPr/>
        </p:nvSpPr>
        <p:spPr>
          <a:xfrm>
            <a:off x="6598768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7037680" y="4507992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— the account closes successfully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598768" y="5184648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41" name="Text 37"/>
          <p:cNvSpPr/>
          <p:nvPr/>
        </p:nvSpPr>
        <p:spPr>
          <a:xfrm>
            <a:off x="6598768" y="5184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7037680" y="5129784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 posting on the now-closed account — blocked again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598768" y="5806440"/>
            <a:ext cx="292608" cy="292608"/>
          </a:xfrm>
          <a:prstGeom prst="ellipse">
            <a:avLst/>
          </a:prstGeom>
          <a:solidFill>
            <a:srgbClr val="C1553F"/>
          </a:solidFill>
          <a:ln/>
        </p:spPr>
      </p:sp>
      <p:sp>
        <p:nvSpPr>
          <p:cNvPr id="44" name="Text 40"/>
          <p:cNvSpPr/>
          <p:nvPr/>
        </p:nvSpPr>
        <p:spPr>
          <a:xfrm>
            <a:off x="6598768" y="5806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7037680" y="5751576"/>
            <a:ext cx="4358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the account — posting works once more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Out of Scope —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deck/icons/LockKe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18541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by the project specification; the system assumes a trusted internal operator today.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96596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47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tmp/deck/icons/TestTub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23408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1416" y="218541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&amp; views tested manually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4760" y="283464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coverage targets the service layer; WebApplicationFactory-based integration tests are a natural next step.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tmp/deck/icons/ChartLineUp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2611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10565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view has one consumer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" y="475488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vw_UserAccountSummary currently powers the Users list only — built to extend to a dedicated Reports page.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886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7F4EC"/>
          </a:solidFill>
          <a:ln w="12700">
            <a:solidFill>
              <a:srgbClr val="E4DF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4760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A9782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tmp/deck/icons/GearSi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42611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1416" y="410565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 or performance testing yet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34760" y="475488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is in place for the known query patterns; formal load testing was not part of this milestone.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tmp/deck/icons/LockKey-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18541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teller, manager and auditor permissions on the same ledger.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96596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47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tmp/deck/icons/FileText-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32" y="23408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1416" y="218541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statements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34760" y="283464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account statements, generated from the existing stored procedure.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tmp/deck/icons/TestTube-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2611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10565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suite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04672" y="475488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WebApplicationFactory-driven tests covering controllers and views end-to-end.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886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1B1F27"/>
          </a:solidFill>
          <a:ln w="12700">
            <a:solidFill>
              <a:srgbClr val="2A2E3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4760" y="41422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D4AF6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/tmp/deck/icons/ChartLineUp-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42611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1416" y="4105656"/>
            <a:ext cx="422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34760" y="4754880"/>
            <a:ext cx="4852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house-wide view of exposure and balances, built on the reporting view layer.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GILDED STAKE  ·  HORIZON DEVCAMP CAPSTONE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5669280" cy="5669280"/>
          </a:xfrm>
          <a:prstGeom prst="diamond">
            <a:avLst/>
          </a:prstGeom>
          <a:ln w="12700">
            <a:solidFill>
              <a:srgbClr val="D4A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3566160"/>
            <a:ext cx="4937760" cy="4937760"/>
          </a:xfrm>
          <a:prstGeom prst="diamond">
            <a:avLst/>
          </a:prstGeom>
          <a:ln w="1270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4368" y="1874520"/>
            <a:ext cx="822960" cy="822960"/>
          </a:xfrm>
          <a:prstGeom prst="diamond">
            <a:avLst/>
          </a:prstGeom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84368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29718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architecture, the rules, or the road ahead — happy to open the code.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15688" y="4892040"/>
            <a:ext cx="2560320" cy="0"/>
          </a:xfrm>
          <a:prstGeom prst="line">
            <a:avLst/>
          </a:prstGeom>
          <a:noFill/>
          <a:ln w="12700">
            <a:solidFill>
              <a:srgbClr val="2A2E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Nyiko Gift Masingi  ·  The Gilded Stake  ·  Horizon DevCamp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2026-07-10T08:50:23Z</dcterms:created>
  <dcterms:modified xsi:type="dcterms:W3CDTF">2026-07-10T08:50:23Z</dcterms:modified>
</cp:coreProperties>
</file>